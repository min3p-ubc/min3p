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 snapToObjects="1">
      <p:cViewPr varScale="1">
        <p:scale>
          <a:sx n="104" d="100"/>
          <a:sy n="104" d="100"/>
        </p:scale>
        <p:origin x="23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FB3E6-5B21-7C62-0549-DE79B15BE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97D0EB-DC1A-DBD7-BBF2-DE6236138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E6D5E-C08F-9B7D-B3E9-AB495276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116D3-6B14-6C50-DA77-2B1A6E354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AEE22-308E-FC39-B725-5639A902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21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B286-2D3D-4A26-EA07-213C3B34E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531F4-F391-137C-7312-0CB1DECBE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10975-BC34-41DF-B7D5-D1A5A89D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1CA83-CD5C-56D1-2E3D-AC15A9BA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A1E65-BEE8-143C-99A3-8740DA19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7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CC81-FB5D-F1D8-197C-E056BF732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653FE-5999-9EB7-4E04-D9C7F8E24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DECF0-22C2-CFAA-5977-0D81416E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0F922-DBAC-747E-E842-B991E202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001E9-27F5-985C-FAE1-48C7F22D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34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4157-6B75-19DF-69E8-6912C17A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901E4-3971-6AC7-56B1-DC6F6960B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869A2-A840-E318-706F-DB8E0890B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5FF71-6800-B4B8-31C9-8582955E6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EFFCF-8D6B-C200-4838-7210D322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AFFAA-029A-4D2B-2157-4F7B40CD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83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F6FB-3410-ED95-B7CA-F3EA2B2BF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FA5B4-6DA0-271F-1F37-8480EBA2C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509CE4-5BBB-5406-D771-CA674C029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D1F4B-144C-015B-B5B1-04F6A0D15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33C1AA-CC3A-1A88-887A-5F3ABB704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ABB96-FD20-7FF2-BE9B-3BEC4511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76933-5DB4-4AA9-65FB-10397D11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A2C449-CBA1-C561-E752-5E1D4EEE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78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7623-2193-E0EC-CB69-2424A2909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E0C227-023D-4277-427F-B46631BD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F6B8D-0CF7-1C75-0E91-76F4C245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DCA828-1277-8D34-C34B-5744B584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2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3C37BC-ECEB-3AF8-1A3C-0A0C86C5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1FD544-C97D-A4EC-46C4-D339834F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B2452-6A57-8492-794C-E99B60685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82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3545-E362-732C-7DDD-C64B7A06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CEC5A-0FCF-212A-19AE-EF27EC33B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4418D-FD0C-EF0A-B5EC-89E9C326C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654DA-190B-CD61-80C4-F329AFEDC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440B5-0408-EECF-CEFF-D51375658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028E5-0322-F139-9237-02407C21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27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06275-9C71-6BC9-D20A-D1BD47649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6F35B2-2881-C7A6-8352-1DAE2B69B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CB100-566B-0CEB-F20D-8026C8D99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DC109-E6CF-53E1-9D63-619DAAE32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6B7ED-B8AB-8557-E961-EEF7F2A7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FB62AA-84D6-37C6-0C81-4C4319F5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13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D9195-5EA2-4DAF-498C-4C10C5C5A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3C138-095F-ABFE-0589-F2C72D834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86E1F-8935-4F46-B3F1-EF785484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4CDE6-4C73-CE67-77A4-5C6150422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C75CB-11E6-86D4-20DF-629C567A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5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DA092E-FD24-25EC-3C59-B1C0B7EF7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059FE-F69C-2868-D0C0-80F23271E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4BCD1-4009-295C-ECAB-7D3023BC0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4D359-649A-0D0F-6159-1A942DDC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00DB8-FC1A-40C5-BBA8-A07E5FF9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286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D3F574-6DC4-7BB9-3B66-CBA96C11E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2F50C-8685-EE3B-DE31-86361E602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81BCE-7550-70E2-DA88-3DD6F6A143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BFB4A-5F6B-9F4E-9105-74931E1D9B15}" type="datetimeFigureOut">
              <a:rPr lang="en-US" smtClean="0"/>
              <a:t>5/4/22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66532-17D8-5B97-F16D-298738FF2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72964-37DE-1F19-4DD4-E3AA25269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B60B8-45E8-C541-B0CD-169B90935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01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079A-C59E-F854-98BE-A7F12D2C28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Implementation of Noble Gas Ingrowth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6B6E65-FC70-D4C5-9724-7D5E479164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42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3AA8-9F6E-4A33-8F66-D3ED31C0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Kerry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A11D2-7EA4-09FD-1E2F-98FBEBB0F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CA" dirty="0"/>
              <a:t>What specific noble gases should we consider? I was thinking </a:t>
            </a:r>
            <a:r>
              <a:rPr lang="en-CA" i="1" dirty="0"/>
              <a:t>He</a:t>
            </a:r>
            <a:r>
              <a:rPr lang="en-CA" dirty="0"/>
              <a:t> would be the logical one, but I guess that depends on which gases have, or will be, analysed by the U of Ottawa group.</a:t>
            </a:r>
          </a:p>
          <a:p>
            <a:r>
              <a:rPr lang="en-CA" dirty="0"/>
              <a:t> </a:t>
            </a:r>
          </a:p>
          <a:p>
            <a:pPr lvl="0"/>
            <a:r>
              <a:rPr lang="en-CA" dirty="0"/>
              <a:t>The in situ production of some of these gases appears quite complicated. </a:t>
            </a:r>
            <a:r>
              <a:rPr lang="en-CA" i="1" dirty="0"/>
              <a:t>He</a:t>
            </a:r>
            <a:r>
              <a:rPr lang="en-CA" dirty="0"/>
              <a:t> production, however, seems relatively straight forward if the U and Th contents of the rocks are known. See also the attached paper (which I haven’t fully reviewed).</a:t>
            </a:r>
          </a:p>
          <a:p>
            <a:r>
              <a:rPr lang="en-CA" dirty="0"/>
              <a:t> </a:t>
            </a:r>
          </a:p>
          <a:p>
            <a:pPr lvl="0"/>
            <a:r>
              <a:rPr lang="en-CA" dirty="0"/>
              <a:t>I don’t see mention of sorption of these gases on organic matter. Have you seen anything on this process?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27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ECB8-76BB-C698-E200-96F1B1A2F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Uli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C14D4-75FB-6366-B225-DE80A97AE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346" y="948295"/>
            <a:ext cx="10515600" cy="4351338"/>
          </a:xfrm>
        </p:spPr>
        <p:txBody>
          <a:bodyPr>
            <a:noAutofit/>
          </a:bodyPr>
          <a:lstStyle/>
          <a:p>
            <a:r>
              <a:rPr lang="en-CA" sz="1600" dirty="0"/>
              <a:t>This is strictly for Helium. This may be a good way to get this started.</a:t>
            </a:r>
          </a:p>
          <a:p>
            <a:r>
              <a:rPr lang="en-CA" sz="1600" dirty="0"/>
              <a:t>When implementing it, it should be done in a generic way, though. Not hard wired. i.e. it should be possible to add other noble gases in the future</a:t>
            </a:r>
          </a:p>
          <a:p>
            <a:r>
              <a:rPr lang="en-CA" sz="1600" dirty="0"/>
              <a:t>My suggestion is as follows:</a:t>
            </a:r>
          </a:p>
          <a:p>
            <a:r>
              <a:rPr lang="en-CA" sz="1600" dirty="0"/>
              <a:t>1. Enter all relevant mineral phases through input file. These will be defined in database, which can be a custom set-up (allows easy modification without additional coding)</a:t>
            </a:r>
          </a:p>
          <a:p>
            <a:r>
              <a:rPr lang="en-CA" sz="1600" dirty="0"/>
              <a:t>2. In the code, whole-rock [U] and [Th], [Na], [Mg], [Al], [Si], [C] are calculated based on the minerals present on a cell by cell basis (I suggest to use consistent internal units, such as mol l-1 bulk, not the ones provided by Ballantyne et al)</a:t>
            </a:r>
          </a:p>
          <a:p>
            <a:r>
              <a:rPr lang="en-CA" sz="1600" dirty="0"/>
              <a:t>3. Calculate the ingrowth of He based on that using the equations given below in units mol L-bulk s-1 for consistency with internal units</a:t>
            </a:r>
          </a:p>
          <a:p>
            <a:r>
              <a:rPr lang="en-CA" sz="1600" dirty="0"/>
              <a:t>4. Tom suggests a release factor, but to my understanding this is diffusion driven. I suggest to use a simple mass transfer term that looks at a noble gas concentration in the solid phase and releases that to the aqueous phase (all done on a cell-by-cell basis) R = k ([NG]_solid x </a:t>
            </a:r>
            <a:r>
              <a:rPr lang="en-CA" sz="1600" dirty="0" err="1"/>
              <a:t>por</a:t>
            </a:r>
            <a:r>
              <a:rPr lang="en-CA" sz="1600" dirty="0"/>
              <a:t> x </a:t>
            </a:r>
            <a:r>
              <a:rPr lang="en-CA" sz="1600" dirty="0" err="1"/>
              <a:t>S_w</a:t>
            </a:r>
            <a:r>
              <a:rPr lang="en-CA" sz="1600" dirty="0"/>
              <a:t> - [NG]_aqueous), where k is a user specified mass transfer coefficient. [NG]_solid is the noble gas concentration in the solid phase, and [NG]_aqueous is the noble gas concentration in the aqueous phase, </a:t>
            </a:r>
            <a:r>
              <a:rPr lang="en-CA" sz="1600" dirty="0" err="1"/>
              <a:t>por</a:t>
            </a:r>
            <a:r>
              <a:rPr lang="en-CA" sz="1600" dirty="0"/>
              <a:t> is porosity, </a:t>
            </a:r>
            <a:r>
              <a:rPr lang="en-CA" sz="1600" dirty="0" err="1"/>
              <a:t>S_w</a:t>
            </a:r>
            <a:r>
              <a:rPr lang="en-CA" sz="1600" dirty="0"/>
              <a:t> is water saturation  </a:t>
            </a:r>
          </a:p>
          <a:p>
            <a:r>
              <a:rPr lang="en-CA" sz="1600" dirty="0"/>
              <a:t>5. This could be expanded to a mineral specific formulation. In this case, the NG ingrowth in each relevant phase would be tracked along with the release. </a:t>
            </a:r>
          </a:p>
          <a:p>
            <a:r>
              <a:rPr lang="en-CA" sz="1600" dirty="0"/>
              <a:t>Re noble gas </a:t>
            </a:r>
            <a:r>
              <a:rPr lang="en-CA" sz="1600" dirty="0" err="1"/>
              <a:t>absprption</a:t>
            </a:r>
            <a:r>
              <a:rPr lang="en-CA" sz="1600" dirty="0"/>
              <a:t> into organic material. To my understanding nobles gases can be quite soluble in oil. My thinking was to treat the oil as a mineral phase (stagnant) and then let noble gases partition into this phase using a similar formulation as above using a simple mass transfer model. This part can be done later. We can refine this as we go.</a:t>
            </a:r>
          </a:p>
          <a:p>
            <a:r>
              <a:rPr lang="en-CA" sz="1600" dirty="0"/>
              <a:t>It makes a lot of sense to start with He ingrowth, so that we can show some progress. Then go from there.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6572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583C8-5502-268D-4207-61E63585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4FC-C119-592C-F02F-874615E13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Noble gases to be considered? </a:t>
            </a:r>
          </a:p>
          <a:p>
            <a:pPr lvl="1"/>
            <a:r>
              <a:rPr lang="en-US" b="1" dirty="0"/>
              <a:t>helium (He), neon (Ne), argon (</a:t>
            </a:r>
            <a:r>
              <a:rPr lang="en-US" b="1" dirty="0" err="1"/>
              <a:t>Ar</a:t>
            </a:r>
            <a:r>
              <a:rPr lang="en-US" b="1" dirty="0"/>
              <a:t>), krypton (Kr), xenon (Xe)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radon (Rn)</a:t>
            </a:r>
            <a:r>
              <a:rPr lang="en-US" dirty="0"/>
              <a:t>, and </a:t>
            </a:r>
            <a:r>
              <a:rPr lang="en-US" dirty="0" err="1"/>
              <a:t>oganesson</a:t>
            </a:r>
            <a:r>
              <a:rPr lang="en-US" dirty="0"/>
              <a:t> (</a:t>
            </a:r>
            <a:r>
              <a:rPr lang="en-US" dirty="0" err="1"/>
              <a:t>Og</a:t>
            </a:r>
            <a:r>
              <a:rPr lang="en-US" dirty="0"/>
              <a:t>) </a:t>
            </a:r>
          </a:p>
          <a:p>
            <a:endParaRPr lang="en-US" dirty="0"/>
          </a:p>
          <a:p>
            <a:r>
              <a:rPr lang="en-US" dirty="0"/>
              <a:t>General formulation for noble gas ingrowth related to uranium (U) and thorium (Th) decay and noble gas absorption into organic matter.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63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23A3-67DC-E2BE-8420-37F3B76D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 of He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2765C-CF70-638C-ED75-DE1FCF451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12" y="3250342"/>
            <a:ext cx="7934325" cy="895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B90B82-58AF-7487-1D7B-FFE4B8507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7" y="4681451"/>
            <a:ext cx="7905750" cy="1343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113208-D5EF-17A5-7C93-F6C6ECE6E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87" y="2000208"/>
            <a:ext cx="791527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81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23A3-67DC-E2BE-8420-37F3B76D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 of 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3AF688-C458-7353-5F88-35C2CFAC9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501045"/>
            <a:ext cx="7219950" cy="2638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334BB1-7FFD-207B-6650-6B30AF723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5245103"/>
            <a:ext cx="7181850" cy="1619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D1E72F-B9EF-2B40-6133-2C2B24FC1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338137"/>
            <a:ext cx="788670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21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23A3-67DC-E2BE-8420-37F3B76D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 of </a:t>
            </a:r>
            <a:r>
              <a:rPr lang="en-US" dirty="0" err="1"/>
              <a:t>Ar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9C272-7646-2CCB-4C97-D8C20DB5E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943850" cy="7715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9D7963-CEFF-34C8-49F3-D2F3CC73E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2873376"/>
            <a:ext cx="7219950" cy="285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DB5323-BB71-6A0B-FE64-DC6FF0DA6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3286125"/>
            <a:ext cx="7219950" cy="285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FC1146-6248-375A-4C1C-19715C9B6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864" y="4195762"/>
            <a:ext cx="7219950" cy="9715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3ADF6A-0C0D-FB6C-BADE-0CC82E5450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864" y="3729766"/>
            <a:ext cx="72199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84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23A3-67DC-E2BE-8420-37F3B76D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Formulation of Kr and Xe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95D05-823E-CE98-232E-C6A28312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3508"/>
            <a:ext cx="7896225" cy="714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6CA629-6145-5556-1901-F41162551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2642846"/>
            <a:ext cx="7229475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93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622</Words>
  <Application>Microsoft Macintosh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Implementation of Noble Gas Ingrowth</vt:lpstr>
      <vt:lpstr>From Kerry</vt:lpstr>
      <vt:lpstr>From Uli</vt:lpstr>
      <vt:lpstr>Tasks</vt:lpstr>
      <vt:lpstr>Formulation of He</vt:lpstr>
      <vt:lpstr>Formulation of Ne</vt:lpstr>
      <vt:lpstr>Formulation of Ar</vt:lpstr>
      <vt:lpstr>Formulation of Kr and Xe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of Noble Gas Ingrowth</dc:title>
  <dc:creator>SU Danyang</dc:creator>
  <cp:lastModifiedBy>SU Danyang</cp:lastModifiedBy>
  <cp:revision>8</cp:revision>
  <dcterms:created xsi:type="dcterms:W3CDTF">2022-05-04T16:41:57Z</dcterms:created>
  <dcterms:modified xsi:type="dcterms:W3CDTF">2022-05-04T17:59:24Z</dcterms:modified>
</cp:coreProperties>
</file>